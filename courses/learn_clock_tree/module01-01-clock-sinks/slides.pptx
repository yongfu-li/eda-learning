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Every CTS algorithm starts from sinks—cell centers that must receive the clock—and one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sink_points reads placement for A through F. Source sits at six comma four. Moving a sink moves its access point for the next tree build.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Six sinks A–F sit on the same spread placement as routing labs.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CLK star at chip center (6,4) — the root of every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at (1,1) southwest corner.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 at (8,5) northeast.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E/F sit near the center corridor beside the source.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**clock-sinks**. Confirm six sinks and the yellow CLK star at six comma four. Move B and watch its label follow.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Call `sink_points(placement, sinks)` in `common/ctsutil.py`. Print A through F on tiny_cts. Assert source at (6,4).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Using GCell indices instead of cell centers. Forgetting the source is fixed. Treating nets as sinks.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measure latency and skew on a built tree.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1828800"/>
            <a:ext cx="11064240" cy="274320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ctr">
              <a:lnSpc>
                <a:spcPts val="2200"/>
              </a:lnSpc>
              <a:spcAft>
                <a:spcPts val="400"/>
              </a:spcAft>
            </a:pPr>
            <a:r>
              <a:rPr sz="4000" b="1">
                <a:solidFill>
                  <a:srgbClr val="1A1A2E"/>
                </a:solidFill>
                <a:latin typeface="Calibri"/>
              </a:rPr>
              <a:t>Clock sinks from placement</a:t>
            </a:r>
          </a:p>
          <a:p>
            <a:pPr algn="ctr">
              <a:lnSpc>
                <a:spcPts val="2200"/>
              </a:lnSpc>
              <a:spcBef>
                <a:spcPts val="1400"/>
              </a:spcBef>
            </a:pPr>
            <a:r>
              <a:rPr sz="2600" b="0">
                <a:solidFill>
                  <a:srgbClr val="333333"/>
                </a:solidFill>
                <a:latin typeface="Calibri"/>
              </a:rPr>
              <a:t>Every CTS algorithm starts from sinks, cell centers that must receive the clock, and one source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The idea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Sink_points reads placement for A through F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Source sits at six comma four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Moving a sink moves its access point for the next tree build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12×8 chip</a:t>
            </a:r>
          </a:p>
        </p:txBody>
      </p:sp>
      <p:pic>
        <p:nvPicPr>
          <p:cNvPr id="3" name="Picture 2" descr="01-chi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12×8 chip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Clock source</a:t>
            </a:r>
          </a:p>
        </p:txBody>
      </p:sp>
      <p:pic>
        <p:nvPicPr>
          <p:cNvPr id="3" name="Picture 2" descr="02-sr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Clock source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Sink A</a:t>
            </a:r>
          </a:p>
        </p:txBody>
      </p:sp>
      <p:pic>
        <p:nvPicPr>
          <p:cNvPr id="3" name="Picture 2" descr="03-a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Sink 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Sink D</a:t>
            </a:r>
          </a:p>
        </p:txBody>
      </p:sp>
      <p:pic>
        <p:nvPicPr>
          <p:cNvPr id="3" name="Picture 2" descr="04-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Sink 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All six</a:t>
            </a:r>
          </a:p>
        </p:txBody>
      </p:sp>
      <p:pic>
        <p:nvPicPr>
          <p:cNvPr id="3" name="Picture 2" descr="05-all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674675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All six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Browser lab track</a:t>
            </a:r>
          </a:p>
        </p:txBody>
      </p:sp>
      <p:pic>
        <p:nvPicPr>
          <p:cNvPr id="3" name="Picture 2" descr="lab-star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8640" y="1143000"/>
            <a:ext cx="7315200" cy="4572000"/>
          </a:xfrm>
          <a:prstGeom prst="rect">
            <a:avLst/>
          </a:prstGeom>
        </p:spPr>
      </p:pic>
      <p:sp>
        <p:nvSpPr>
          <p:cNvPr id="4" name="TextBox 3"/>
          <p:cNvSpPr txBox="1"/>
          <p:nvPr/>
        </p:nvSpPr>
        <p:spPr>
          <a:xfrm>
            <a:off x="548640" y="5897880"/>
            <a:ext cx="11064240" cy="41148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1200" b="0">
                <a:solidFill>
                  <a:srgbClr val="333333"/>
                </a:solidFill>
                <a:latin typeface="Calibri"/>
              </a:rPr>
              <a:t>Browser lab starter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Implement track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Call `sink_points(placement, sinks)` in `common/ctsutil.py`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Print A through F on tiny_cts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Assert source at (6,4)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Pitfalls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Using GCell indices instead of cell centers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Forgetting the source is fixed</a:t>
            </a:r>
          </a:p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Treating nets as sinks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411480"/>
            <a:ext cx="11064240" cy="7772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>
              <a:lnSpc>
                <a:spcPts val="2200"/>
              </a:lnSpc>
            </a:pPr>
            <a:r>
              <a:rPr sz="2800" b="1">
                <a:solidFill>
                  <a:srgbClr val="1A1A2E"/>
                </a:solidFill>
                <a:latin typeface="Calibri"/>
              </a:rPr>
              <a:t>Your turn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34440"/>
            <a:ext cx="11064240" cy="493776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lvl="0" marL="457200" indent="-228600">
              <a:buFont typeface="Calibri"/>
              <a:spcAft>
                <a:spcPts val="1000"/>
              </a:spcAft>
              <a:buSzPct val="100000"/>
              <a:buChar char="•"/>
              <a:lnSpc>
                <a:spcPts val="2200"/>
              </a:lnSpc>
            </a:pPr>
            <a:r>
              <a:rPr sz="2000" b="0">
                <a:solidFill>
                  <a:srgbClr val="333333"/>
                </a:solidFill>
                <a:latin typeface="Calibri"/>
              </a:rPr>
              <a:t>Next: measure latency and skew on a built tree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6355080"/>
            <a:ext cx="11064240" cy="320040"/>
          </a:xfrm>
          <a:prstGeom prst="rect">
            <a:avLst/>
          </a:prstGeom>
          <a:noFill/>
        </p:spPr>
        <p:txBody>
          <a:bodyPr wrap="square">
            <a:noAutofit/>
          </a:bodyPr>
          <a:lstStyle/>
          <a:p>
            <a:pPr algn="r">
              <a:lnSpc>
                <a:spcPts val="2200"/>
              </a:lnSpc>
              <a:defRPr sz="1000" b="0">
                <a:solidFill>
                  <a:srgbClr val="666666"/>
                </a:solidFill>
                <a:latin typeface="Calibri"/>
              </a:defRPr>
            </a:pPr>
            <a:r>
              <a:t>learn_clock_tree — 01 clock sinks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